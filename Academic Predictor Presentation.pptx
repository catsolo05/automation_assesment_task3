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0F0FA"/>
          </a:solidFill>
          <a:ln>
            <a:solidFill>
              <a:srgbClr val="F0F0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6366F1"/>
                </a:solidFill>
                <a:latin typeface="Calibri"/>
              </a:defRPr>
            </a:pPr>
            <a:r>
              <a:t>Academic Predictor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DCDCE6"/>
                </a:solidFill>
                <a:latin typeface="Calibri"/>
              </a:defRPr>
            </a:pPr>
            <a:r>
              <a:t>Multi-feature linear regression for predicting student final grades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Automated data cleaning &amp; validation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Supervised learning with train-test split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Cross-validation &amp; RMSE evaluation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Privacy-aware data handling &amp; bias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C"/>
          </a:solidFill>
          <a:ln>
            <a:solidFill>
              <a:srgbClr val="FA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1.  Dataset overview &amp; cleaning strategy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2.  Baseline vs. multi-feature modeling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3.  Validation results &amp; prediction accuracy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4.  Bias audit &amp; ethical safeguards</a:t>
            </a:r>
          </a:p>
          <a:p>
            <a:pPr algn="l">
              <a:spcAft>
                <a:spcPts val="800"/>
              </a:spcAft>
              <a:defRPr sz="2000">
                <a:solidFill>
                  <a:srgbClr val="1E1E2E"/>
                </a:solidFill>
                <a:latin typeface="Calibri"/>
              </a:defRPr>
            </a:pPr>
            <a:r>
              <a:t>5.  Submission readiness &amp;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C"/>
          </a:solidFill>
          <a:ln>
            <a:solidFill>
              <a:srgbClr val="FA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Original dataset: 28 student records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Cleaned dataset: 21 valid rows (removed missing/invalid scores)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Feature columns: Maths Advanced, Physics, Modern History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Target column: Software Engineering Final Grade (0–100)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Cleaning rules: drop NaN, enforce [0, 100] range per column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C"/>
          </a:solidFill>
          <a:ln>
            <a:solidFill>
              <a:srgbClr val="FA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Model Strategy: Baseline vs. Level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931920" cy="5120640"/>
          </a:xfrm>
          <a:prstGeom prst="rect">
            <a:avLst/>
          </a:prstGeom>
          <a:solidFill>
            <a:srgbClr val="F0F5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6366F1"/>
                </a:solidFill>
                <a:latin typeface="Calibri"/>
              </a:defRPr>
            </a:pPr>
            <a:r>
              <a:t>Baseline: Single-Feature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Linear regression on Maths Advanced only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Simple, interpretable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Establishes performance baseline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280160"/>
            <a:ext cx="3931920" cy="5120640"/>
          </a:xfrm>
          <a:prstGeom prst="rect">
            <a:avLst/>
          </a:prstGeom>
          <a:solidFill>
            <a:srgbClr val="F0FFF5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2C55E"/>
                </a:solidFill>
                <a:latin typeface="Calibri"/>
              </a:defRPr>
            </a:pPr>
            <a:r>
              <a:t>Level 2: Multi-Feature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3 features + StandardScaler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Reduces feature bias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Better predictions with context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C"/>
          </a:solidFill>
          <a:ln>
            <a:solidFill>
              <a:srgbClr val="FA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Validation &amp;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Train-test split: 80% training, 20% testing (random_state=42)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Baseline RMSE: 4.49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Level 2 RMSE: 5.52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Cross-validation RMSE (5-fold): 3.52</a:t>
            </a:r>
          </a:p>
          <a:p>
            <a:pPr algn="l">
              <a:spcAft>
                <a:spcPts val="800"/>
              </a:spcAft>
              <a:defRPr sz="1800">
                <a:solidFill>
                  <a:srgbClr val="1E1E2E"/>
                </a:solidFill>
                <a:latin typeface="Calibri"/>
              </a:defRPr>
            </a:pPr>
            <a:r>
              <a:t>▸  Alex Anderson predicted final score: 86.1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C"/>
          </a:solidFill>
          <a:ln>
            <a:solidFill>
              <a:srgbClr val="FA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Bias Audit &amp; Ethical Safeguards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931920" cy="5120640"/>
          </a:xfrm>
          <a:prstGeom prst="rect">
            <a:avLst/>
          </a:prstGeom>
          <a:solidFill>
            <a:srgbClr val="FFF5F0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EA580C"/>
                </a:solidFill>
                <a:latin typeface="Calibri"/>
              </a:defRPr>
            </a:pPr>
            <a:r>
              <a:t>Privacy &amp; Data Protection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Anonymize student names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Hash IDs for safe sharing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Remove PII before export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280160"/>
            <a:ext cx="3931920" cy="5120640"/>
          </a:xfrm>
          <a:prstGeom prst="rect">
            <a:avLst/>
          </a:prstGeom>
          <a:solidFill>
            <a:srgbClr val="F5FA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6304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6366F1"/>
                </a:solidFill>
                <a:latin typeface="Calibri"/>
              </a:defRPr>
            </a:pPr>
            <a:r>
              <a:t>Bias Detection &amp; Audit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80% rule disparate impact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Subgroup pass rate analysis</a:t>
            </a:r>
          </a:p>
          <a:p>
            <a:pPr>
              <a:spcAft>
                <a:spcPts val="800"/>
              </a:spcAft>
              <a:defRPr sz="1500">
                <a:solidFill>
                  <a:srgbClr val="1E1E2E"/>
                </a:solidFill>
                <a:latin typeface="Calibri"/>
              </a:defRPr>
            </a:pPr>
            <a:r>
              <a:t>▸ Audit report with warnings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C"/>
          </a:solidFill>
          <a:ln>
            <a:solidFill>
              <a:srgbClr val="FA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Submission-Ready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18288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▸  Software: Complete pipeline with data cleaning, training, evaluation, and ethics checks</a:t>
            </a:r>
          </a:p>
          <a:p>
            <a:pPr algn="l">
              <a:spcAft>
                <a:spcPts val="8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▸  Results: Stable, reproducible RMSE metrics and student predictions</a:t>
            </a:r>
          </a:p>
          <a:p>
            <a:pPr algn="l">
              <a:spcAft>
                <a:spcPts val="8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▸  Documentation: Project writeup with all template sections filled</a:t>
            </a:r>
          </a:p>
          <a:p>
            <a:pPr algn="l">
              <a:spcAft>
                <a:spcPts val="8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▸  Testing: 13 passing unit tests with 61% code coverage</a:t>
            </a:r>
          </a:p>
          <a:p>
            <a:pPr algn="l">
              <a:spcAft>
                <a:spcPts val="800"/>
              </a:spcAft>
              <a:defRPr sz="1600">
                <a:solidFill>
                  <a:srgbClr val="1E1E2E"/>
                </a:solidFill>
                <a:latin typeface="Calibri"/>
              </a:defRPr>
            </a:pPr>
            <a:r>
              <a:t>▸  Code Quality: OOP design with AcademicPredictor class, anonymization, bias audit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