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400" b="1">
                <a:solidFill>
                  <a:srgbClr val="6366F1"/>
                </a:solidFill>
                <a:latin typeface="Calibri"/>
              </a:defRPr>
            </a:pPr>
            <a:r>
              <a:t>Academic Predictor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DCDCE6"/>
                </a:solidFill>
                <a:latin typeface="Calibri"/>
              </a:defRPr>
            </a:pPr>
            <a:r>
              <a:t>Multi-feature linear regression for predicting student final grades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Automated data cleaning &amp; validation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Supervised learning with train-test split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Cross-validation &amp; RMSE evaluation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Privacy-aware data handling &amp; bias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1E1E2E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E1E2E"/>
                </a:solidFill>
                <a:latin typeface="Calibri"/>
              </a:defRPr>
            </a:pPr>
            <a:r>
              <a:t>1.  Dataset overview &amp; cleaning strategy</a:t>
            </a:r>
          </a:p>
          <a:p>
            <a:pPr algn="l">
              <a:spcAft>
                <a:spcPts val="800"/>
              </a:spcAft>
              <a:defRPr sz="2000">
                <a:solidFill>
                  <a:srgbClr val="1E1E2E"/>
                </a:solidFill>
                <a:latin typeface="Calibri"/>
              </a:defRPr>
            </a:pPr>
            <a:r>
              <a:t>2.  Baseline vs. multi-feature modeling</a:t>
            </a:r>
          </a:p>
          <a:p>
            <a:pPr algn="l">
              <a:spcAft>
                <a:spcPts val="800"/>
              </a:spcAft>
              <a:defRPr sz="2000">
                <a:solidFill>
                  <a:srgbClr val="1E1E2E"/>
                </a:solidFill>
                <a:latin typeface="Calibri"/>
              </a:defRPr>
            </a:pPr>
            <a:r>
              <a:t>3.  Validation results &amp; prediction accuracy</a:t>
            </a:r>
          </a:p>
          <a:p>
            <a:pPr algn="l">
              <a:spcAft>
                <a:spcPts val="800"/>
              </a:spcAft>
              <a:defRPr sz="2000">
                <a:solidFill>
                  <a:srgbClr val="1E1E2E"/>
                </a:solidFill>
                <a:latin typeface="Calibri"/>
              </a:defRPr>
            </a:pPr>
            <a:r>
              <a:t>4.  Bias audit &amp; ethical safeguards</a:t>
            </a:r>
          </a:p>
          <a:p>
            <a:pPr algn="l">
              <a:spcAft>
                <a:spcPts val="800"/>
              </a:spcAft>
              <a:defRPr sz="2000">
                <a:solidFill>
                  <a:srgbClr val="1E1E2E"/>
                </a:solidFill>
                <a:latin typeface="Calibri"/>
              </a:defRPr>
            </a:pPr>
            <a:r>
              <a:t>5.  Submission readiness &amp;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1E1E2E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Original dataset: 28 student records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Cleaned dataset: 21 valid rows (removed missing/invalid scores)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Feature columns: Maths Advanced, Physics, Modern History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Target column: Software Engineering Final Grade (0–100)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Cleaning rules: drop NaN, enforce [0, 100] range per column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800" b="1">
                <a:solidFill>
                  <a:srgbClr val="1E1E2E"/>
                </a:solidFill>
                <a:latin typeface="Calibri"/>
              </a:defRPr>
            </a:pPr>
            <a:r>
              <a:t>Model Strategy: Baseline vs. Level 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Calibri"/>
              </a:defRPr>
            </a:pPr>
            <a:r>
              <a:t>Baseline: Single-Feature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Linear regression on Maths Advanced only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Simple, interpretable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Establishes performance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4630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Calibri"/>
              </a:defRPr>
            </a:pPr>
            <a:r>
              <a:t>Level 2: Multi-Feature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3 features + StandardScaler + LinearRegression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Reduces feature bias from different ranges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Better predictions with more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1E1E2E"/>
                </a:solidFill>
                <a:latin typeface="Calibri"/>
              </a:defRPr>
            </a:pPr>
            <a:r>
              <a:t>Validation &amp;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Train-test split: 80% training, 20% testing (random_state=42)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Baseline RMSE: 4.49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Level 2 RMSE: 5.52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Cross-validation RMSE (5-fold): 3.52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Alex Anderson predicted final score: 86.1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800" b="1">
                <a:solidFill>
                  <a:srgbClr val="1E1E2E"/>
                </a:solidFill>
                <a:latin typeface="Calibri"/>
              </a:defRPr>
            </a:pPr>
            <a:r>
              <a:t>Bias Audit &amp; Ethical Safeguards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Calibri"/>
              </a:defRPr>
            </a:pPr>
            <a:r>
              <a:t>Privacy &amp; Data Protection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Anonymize student names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Hash IDs for safe sharing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Remove PII before 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4630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Calibri"/>
              </a:defRPr>
            </a:pPr>
            <a:r>
              <a:t>Bias Detection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80% rule disparate impact check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Compare subgroup pass rates</a:t>
            </a:r>
          </a:p>
          <a:p>
            <a:pPr>
              <a:spcAft>
                <a:spcPts val="6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Audit report with warnings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1E1E2E"/>
                </a:solidFill>
                <a:latin typeface="Calibri"/>
              </a:defRPr>
            </a:pPr>
            <a:r>
              <a:t>Submission-Ready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>
                <a:solidFill>
                  <a:srgbClr val="1E1E2E"/>
                </a:solidFill>
                <a:latin typeface="Calibri"/>
              </a:defRPr>
            </a:pPr>
            <a:r>
              <a:t>Software: Complete pipeline with data cleaning, training, evaluation, and ethics checks</a:t>
            </a:r>
          </a:p>
          <a:p>
            <a:pPr algn="l">
              <a:spcAft>
                <a:spcPts val="800"/>
              </a:spcAft>
              <a:defRPr sz="1700">
                <a:solidFill>
                  <a:srgbClr val="1E1E2E"/>
                </a:solidFill>
                <a:latin typeface="Calibri"/>
              </a:defRPr>
            </a:pPr>
            <a:r>
              <a:t>Results: Stable, reproducible RMSE metrics and student predictions</a:t>
            </a:r>
          </a:p>
          <a:p>
            <a:pPr algn="l">
              <a:spcAft>
                <a:spcPts val="800"/>
              </a:spcAft>
              <a:defRPr sz="1700">
                <a:solidFill>
                  <a:srgbClr val="1E1E2E"/>
                </a:solidFill>
                <a:latin typeface="Calibri"/>
              </a:defRPr>
            </a:pPr>
            <a:r>
              <a:t>Documentation: Project writeup with all template sections filled</a:t>
            </a:r>
          </a:p>
          <a:p>
            <a:pPr algn="l">
              <a:spcAft>
                <a:spcPts val="800"/>
              </a:spcAft>
              <a:defRPr sz="1700">
                <a:solidFill>
                  <a:srgbClr val="1E1E2E"/>
                </a:solidFill>
                <a:latin typeface="Calibri"/>
              </a:defRPr>
            </a:pPr>
            <a:r>
              <a:t>Testing: 13 passing unit tests with 61% code coverage</a:t>
            </a:r>
          </a:p>
          <a:p>
            <a:pPr algn="l">
              <a:spcAft>
                <a:spcPts val="800"/>
              </a:spcAft>
              <a:defRPr sz="1700">
                <a:solidFill>
                  <a:srgbClr val="1E1E2E"/>
                </a:solidFill>
                <a:latin typeface="Calibri"/>
              </a:defRPr>
            </a:pPr>
            <a:r>
              <a:t>Code Quality: OOP design with AcademicPredictor class, anonymization, bias audit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