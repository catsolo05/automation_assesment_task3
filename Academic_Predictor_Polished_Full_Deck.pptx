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Academic Predictor: Full Project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Built from the notebook documentation and dataset instructions.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Goal: Predict a missing Software Engineering final mark using a clean, fair, and explainable AI workflow.</a:t>
            </a:r>
          </a:p>
          <a:p>
            <a:pPr lvl="1">
              <a:defRPr sz="1400"/>
            </a:pPr>
            <a:r>
              <a:t>• Dataset size: 28 rows originally, 21 rows after cleaning.</a:t>
            </a:r>
          </a:p>
          <a:p>
            <a:pPr lvl="1">
              <a:defRPr sz="1400"/>
            </a:pPr>
            <a:r>
              <a:t>• Key phases: data strategy, baseline AI, formula extraction, OOP design, scaling, fairness audit, overfitting check, logic gatekeeper, and optional neural network.</a:t>
            </a:r>
          </a:p>
          <a:p>
            <a:pPr lvl="1">
              <a:defRPr sz="1400"/>
            </a:pPr>
            <a:r>
              <a:t>• Selected student: Alex Anderson has a missing Software Engineering final score.</a:t>
            </a:r>
          </a:p>
          <a:p>
            <a:pPr lvl="1">
              <a:defRPr sz="1400"/>
            </a:pPr>
            <a:r>
              <a:t>• Approach: keep predictions transparent and include human oversight for final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Data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Clean the raw markbook before training any model.</a:t>
            </a:r>
          </a:p>
          <a:p>
            <a:pPr lvl="1">
              <a:defRPr sz="1400"/>
            </a:pPr>
            <a:r>
              <a:t>• Removed rows with missing values using pandas dropna().</a:t>
            </a:r>
          </a:p>
          <a:p>
            <a:pPr lvl="1">
              <a:defRPr sz="1400"/>
            </a:pPr>
            <a:r>
              <a:t>• Filtered Maths Advanced, Physics, and Software Engineering final marks to 0–100.</a:t>
            </a:r>
          </a:p>
          <a:p>
            <a:pPr lvl="1">
              <a:defRPr sz="1400"/>
            </a:pPr>
            <a:r>
              <a:t>• This prevents impossible training points and reduces bias.</a:t>
            </a:r>
          </a:p>
          <a:p>
            <a:pPr lvl="1">
              <a:defRPr sz="1200"/>
            </a:pPr>
            <a:r>
              <a:t>Example invalid rows included:</a:t>
            </a:r>
            <a:br/>
            <a:r>
              <a:t>  - Victor Vance: Maths=nan, Physics=82.0, SE Final=82.0</a:t>
            </a:r>
            <a:br/>
            <a:r>
              <a:t>  - Yara Young: Maths=80.0, Physics=nan, SE Final=84.0</a:t>
            </a:r>
            <a:br/>
            <a:r>
              <a:t>  - Zane Zane: Maths=72.0, Physics=72.0, SE Final=76.0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The Problem &amp;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Define the prediction task and prepare the training workflow.</a:t>
            </a:r>
          </a:p>
          <a:p>
            <a:pPr lvl="1">
              <a:defRPr sz="1400"/>
            </a:pPr>
            <a:r>
              <a:t>• Predict Software Engineering final score from Maths Advanced.</a:t>
            </a:r>
          </a:p>
          <a:p>
            <a:pPr lvl="1">
              <a:defRPr sz="1400"/>
            </a:pPr>
            <a:r>
              <a:t>• Use an 80/20 train/test split so the model is evaluated fairly.</a:t>
            </a:r>
          </a:p>
          <a:p>
            <a:pPr lvl="1">
              <a:defRPr sz="1400"/>
            </a:pPr>
            <a:r>
              <a:t>• ML pipeline: Define, Collect, Prepare, Train, Evaluate.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The Mathematical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Extract the exact linear regression equation and explain its meaning.</a:t>
            </a:r>
          </a:p>
          <a:p>
            <a:pPr lvl="1">
              <a:defRPr sz="1400"/>
            </a:pPr>
            <a:r>
              <a:t>• Formula: Software_Engineering_Final = 1.02 × Maths_Advanced + -1.36</a:t>
            </a:r>
          </a:p>
          <a:p>
            <a:pPr lvl="1">
              <a:defRPr sz="1400"/>
            </a:pPr>
            <a:r>
              <a:t>• Weight meaning: each extra Maths mark raises the predicted Software mark by about 1.02 points.</a:t>
            </a:r>
          </a:p>
          <a:p>
            <a:pPr lvl="1">
              <a:defRPr sz="1400"/>
            </a:pPr>
            <a:r>
              <a:t>• Baseline model RMSE = 4.49.</a:t>
            </a:r>
          </a:p>
          <a:p>
            <a:pPr lvl="1">
              <a:defRPr sz="1400"/>
            </a:pPr>
            <a:r>
              <a:t>• The regression line is the AI algorithm on the plot.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Encapsulate the model inside a MarkPredictor class to meet OOP requirements.</a:t>
            </a:r>
          </a:p>
          <a:p>
            <a:pPr lvl="1">
              <a:defRPr sz="1400"/>
            </a:pPr>
            <a:r>
              <a:t>• Class includes attribute: model: LinearRegression.</a:t>
            </a:r>
          </a:p>
          <a:p>
            <a:pPr lvl="1">
              <a:defRPr sz="1400"/>
            </a:pPr>
            <a:r>
              <a:t>• Methods: fit(X, y) and predict(X).</a:t>
            </a:r>
          </a:p>
          <a:p>
            <a:pPr lvl="1">
              <a:defRPr sz="1400"/>
            </a:pPr>
            <a:r>
              <a:t>• Encapsulation locks model logic inside a reusable object.</a:t>
            </a:r>
          </a:p>
          <a:p>
            <a:pPr lvl="1">
              <a:defRPr sz="1400"/>
            </a:pPr>
            <a:r>
              <a:t>• This reduces accidental data leaks and supports safer production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Level 1 vs Level 2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Compare the simple single-subject model with the scaled multi-subject model.</a:t>
            </a:r>
          </a:p>
          <a:p>
            <a:pPr lvl="1">
              <a:defRPr sz="1400"/>
            </a:pPr>
            <a:r>
              <a:t>• Level 1: Maths Advanced only.</a:t>
            </a:r>
          </a:p>
          <a:p>
            <a:pPr lvl="1">
              <a:defRPr sz="1400"/>
            </a:pPr>
            <a:r>
              <a:t>• Level 2: Maths Advanced + Physics with StandardScaler.</a:t>
            </a:r>
          </a:p>
          <a:p>
            <a:pPr lvl="1">
              <a:defRPr sz="1400"/>
            </a:pPr>
            <a:r>
              <a:t>• Level 1 RMSE = 4.49</a:t>
            </a:r>
          </a:p>
          <a:p>
            <a:pPr lvl="1">
              <a:defRPr sz="1400"/>
            </a:pPr>
            <a:r>
              <a:t>• Level 2 RMSE = 5.52</a:t>
            </a:r>
          </a:p>
          <a:p>
            <a:pPr lvl="1">
              <a:defRPr sz="1400"/>
            </a:pPr>
            <a:r>
              <a:t>• Feature scaling prevents one subject from dominating due to raw score magnitude.</a:t>
            </a:r>
          </a:p>
          <a:p>
            <a:pPr lvl="1">
              <a:defRPr sz="1400"/>
            </a:pPr>
            <a:r>
              <a:t>• Adding context should improve accuracy, but it must be predictive and clean.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Bias &amp; Ethics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Evaluate fairness for STEM and Humanities groups.</a:t>
            </a:r>
          </a:p>
          <a:p>
            <a:pPr lvl="1">
              <a:defRPr sz="1400"/>
            </a:pPr>
            <a:r>
              <a:t>• Group A: Physics &gt; 70 (STEM).</a:t>
            </a:r>
          </a:p>
          <a:p>
            <a:pPr lvl="1">
              <a:defRPr sz="1400"/>
            </a:pPr>
            <a:r>
              <a:t>• Group B: Modern History &gt; 70 (Humanities).</a:t>
            </a:r>
          </a:p>
          <a:p>
            <a:pPr lvl="1">
              <a:defRPr sz="1400"/>
            </a:pPr>
            <a:r>
              <a:t>• STEM pass rate = 100%</a:t>
            </a:r>
          </a:p>
          <a:p>
            <a:pPr lvl="1">
              <a:defRPr sz="1400"/>
            </a:pPr>
            <a:r>
              <a:t>• Humanities pass rate = 75%</a:t>
            </a:r>
          </a:p>
          <a:p>
            <a:pPr lvl="1">
              <a:defRPr sz="1400"/>
            </a:pPr>
            <a:r>
              <a:t>• Disparate Impact Ratio = 0.75</a:t>
            </a:r>
          </a:p>
          <a:p>
            <a:pPr lvl="1">
              <a:defRPr sz="1400"/>
            </a:pPr>
            <a:r>
              <a:t>• A ratio below 0.8 flags potential bias.</a:t>
            </a:r>
          </a:p>
          <a:p>
            <a:pPr lvl="1">
              <a:defRPr sz="1400"/>
            </a:pPr>
            <a:r>
              <a:t>• Recommendation: always include a human-in-the-loop for grading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7: Overfitting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Cross-validation helps verify the model generalizes beyond one split.</a:t>
            </a:r>
          </a:p>
          <a:p>
            <a:pPr lvl="1">
              <a:defRPr sz="1400"/>
            </a:pPr>
            <a:r>
              <a:t>• Overfitting means memorizing the training set instead of learning general patterns.</a:t>
            </a:r>
          </a:p>
          <a:p>
            <a:pPr lvl="1">
              <a:defRPr sz="1400"/>
            </a:pPr>
            <a:r>
              <a:t>• Such models fail on new cohorts like future Year 12 students.</a:t>
            </a:r>
          </a:p>
          <a:p>
            <a:pPr lvl="1">
              <a:defRPr sz="1400"/>
            </a:pPr>
            <a:r>
              <a:t>• 5-fold cross-validation RMSE = 3.52</a:t>
            </a:r>
          </a:p>
          <a:p>
            <a:pPr lvl="1">
              <a:defRPr sz="1400"/>
            </a:pPr>
            <a:r>
              <a:t>• This gives a more reliable performance estimate on multiple slices.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8: Logic Gatekeeper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Protect predictions by blocking unreliable student data.</a:t>
            </a:r>
          </a:p>
          <a:p>
            <a:pPr lvl="1">
              <a:defRPr sz="1400"/>
            </a:pPr>
            <a:r>
              <a:t>• Check attendance before allowing AI access.</a:t>
            </a:r>
          </a:p>
          <a:p>
            <a:pPr lvl="1">
              <a:defRPr sz="1400"/>
            </a:pPr>
            <a:r>
              <a:t>• If attendance &lt; 50%, print ACCESS DENIED and refuse prediction.</a:t>
            </a:r>
          </a:p>
          <a:p>
            <a:pPr lvl="1">
              <a:defRPr sz="1400"/>
            </a:pPr>
            <a:r>
              <a:t>• Otherwise, print ACCESS GRANTED and allow the prediction pipeline.</a:t>
            </a:r>
          </a:p>
          <a:p>
            <a:pPr lvl="1">
              <a:defRPr sz="1400"/>
            </a:pPr>
            <a:r>
              <a:t>• This procedural safeguard improves overall system reliability.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Extension: Neural Network vs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Explain why linear regression is often preferred in a school setting.</a:t>
            </a:r>
          </a:p>
          <a:p>
            <a:pPr lvl="1">
              <a:defRPr sz="1400"/>
            </a:pPr>
            <a:r>
              <a:t>• A neural network can be trained with hidden layers, but it becomes a black box.</a:t>
            </a:r>
          </a:p>
          <a:p>
            <a:pPr lvl="1">
              <a:defRPr sz="1400"/>
            </a:pPr>
            <a:r>
              <a:t>• Linear Regression is transparent and easier to justify to students and parents.</a:t>
            </a:r>
          </a:p>
          <a:p>
            <a:pPr lvl="1">
              <a:defRPr sz="1400"/>
            </a:pPr>
            <a:r>
              <a:t>• Schools may legally prefer explainable models over opaque AI systems.</a:t>
            </a:r>
          </a:p>
          <a:p>
            <a:pPr lvl="1">
              <a:defRPr sz="1400"/>
            </a:pPr>
            <a:r>
              <a:t>• Use the neural network only with strong validation and human oversight.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